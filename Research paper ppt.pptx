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5"/>
  </p:notesMasterIdLst>
  <p:handoutMasterIdLst>
    <p:handoutMasterId r:id="rId16"/>
  </p:handoutMasterIdLst>
  <p:sldIdLst>
    <p:sldId id="256" r:id="rId5"/>
    <p:sldId id="257" r:id="rId6"/>
    <p:sldId id="269" r:id="rId7"/>
    <p:sldId id="281" r:id="rId8"/>
    <p:sldId id="283" r:id="rId9"/>
    <p:sldId id="284" r:id="rId10"/>
    <p:sldId id="285" r:id="rId11"/>
    <p:sldId id="286" r:id="rId12"/>
    <p:sldId id="287" r:id="rId13"/>
    <p:sldId id="268" r:id="rId14"/>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A65AC"/>
    <a:srgbClr val="2A66AC"/>
    <a:srgbClr val="3379CD"/>
    <a:srgbClr val="8AB2E2"/>
    <a:srgbClr val="75A4DD"/>
    <a:srgbClr val="2E6CB8"/>
    <a:srgbClr val="255997"/>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3" d="100"/>
          <a:sy n="73" d="100"/>
        </p:scale>
        <p:origin x="1080" y="3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5/19/2026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5/19/2026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Footer Placeholder 3"/>
          <p:cNvSpPr>
            <a:spLocks noGrp="1"/>
          </p:cNvSpPr>
          <p:nvPr>
            <p:ph type="ftr" sz="quarter" idx="4"/>
          </p:nvPr>
        </p:nvSpPr>
        <p:spPr/>
        <p:txBody>
          <a:bodyPr/>
          <a:lstStyle/>
          <a:p>
            <a:r>
              <a:rPr lang="en-US"/>
              <a:t>Name of the faculty [Group: G00] [Sem:2nd]</a:t>
            </a:r>
          </a:p>
        </p:txBody>
      </p:sp>
      <p:sp>
        <p:nvSpPr>
          <p:cNvPr id="5" name="Slide Number Placeholder 4"/>
          <p:cNvSpPr>
            <a:spLocks noGrp="1"/>
          </p:cNvSpPr>
          <p:nvPr>
            <p:ph type="sldNum" sz="quarter" idx="5"/>
          </p:nvPr>
        </p:nvSpPr>
        <p:spPr/>
        <p:txBody>
          <a:bodyPr/>
          <a:lstStyle/>
          <a:p>
            <a:fld id="{C5A7523A-12D4-4E0F-9409-B3F845B48333}" type="slidenum">
              <a:rPr lang="en-US" smtClean="0"/>
              <a:pPr/>
              <a:t>2</a:t>
            </a:fld>
            <a:endParaRPr lang="en-US"/>
          </a:p>
        </p:txBody>
      </p:sp>
    </p:spTree>
    <p:extLst>
      <p:ext uri="{BB962C8B-B14F-4D97-AF65-F5344CB8AC3E}">
        <p14:creationId xmlns:p14="http://schemas.microsoft.com/office/powerpoint/2010/main" val="36649455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IN"/>
          </a:p>
        </p:txBody>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txBody>
          <a:bodyPr/>
          <a:lstStyle/>
          <a:p>
            <a:endParaRPr lang="en-IN"/>
          </a:p>
        </p:txBody>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IN"/>
            </a:p>
          </p:txBody>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IN"/>
            </a:p>
          </p:txBody>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IN"/>
            </a:p>
          </p:txBody>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IN"/>
            </a:p>
          </p:txBody>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a:solidFill>
                  <a:srgbClr val="000000"/>
                </a:solidFill>
                <a:latin typeface="Calibri"/>
                <a:ea typeface="MS PGothic"/>
              </a:rPr>
              <a:t>Click to edit Master title style</a:t>
            </a:r>
            <a:endParaRPr lang="en-US" sz="3000" b="0" strike="noStrike" spc="-1">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a:solidFill>
                  <a:srgbClr val="000000"/>
                </a:solidFill>
                <a:latin typeface="Calibri"/>
                <a:ea typeface="MS PGothic"/>
              </a:rPr>
              <a:t>Click to edit Master text styles</a:t>
            </a:r>
            <a:endParaRPr lang="en-US" sz="3200" b="0" strike="noStrike" spc="-1">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a:solidFill>
                  <a:srgbClr val="000000"/>
                </a:solidFill>
                <a:latin typeface="Calibri"/>
                <a:ea typeface="MS PGothic"/>
              </a:rPr>
              <a:t>Second level</a:t>
            </a:r>
            <a:endParaRPr lang="en-US" sz="2800" b="0" strike="noStrike" spc="-1">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a:solidFill>
                  <a:srgbClr val="000000"/>
                </a:solidFill>
                <a:latin typeface="Calibri"/>
                <a:ea typeface="MS PGothic"/>
              </a:rPr>
              <a:t>Third level</a:t>
            </a:r>
            <a:endParaRPr lang="en-US" sz="2400" b="0" strike="noStrike" spc="-1">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a:solidFill>
                  <a:srgbClr val="000000"/>
                </a:solidFill>
                <a:latin typeface="Calibri"/>
                <a:ea typeface="MS PGothic"/>
              </a:rPr>
              <a:t>Fourth level</a:t>
            </a:r>
            <a:endParaRPr lang="en-US" sz="2000" b="0" strike="noStrike" spc="-1">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a:solidFill>
                  <a:srgbClr val="000000"/>
                </a:solidFill>
                <a:latin typeface="Calibri"/>
                <a:ea typeface="MS PGothic"/>
              </a:rPr>
              <a:t>Fifth level</a:t>
            </a:r>
            <a:endParaRPr lang="en-US" sz="2000" b="0" strike="noStrike" spc="-1">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2"/>
            <a:ext cx="9144000" cy="4515140"/>
          </a:xfrm>
          <a:prstGeom prst="rect">
            <a:avLst/>
          </a:prstGeom>
          <a:noFill/>
          <a:ln w="9360">
            <a:noFill/>
          </a:ln>
        </p:spPr>
        <p:txBody>
          <a:bodyPr>
            <a:noAutofit/>
          </a:bodyPr>
          <a:lstStyle/>
          <a:p>
            <a:pPr algn="ctr">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a:t>
            </a:r>
            <a:r>
              <a:rPr lang="en-US" b="1" dirty="0">
                <a:latin typeface="Times New Roman" panose="02020603050405020304" pitchFamily="18" charset="0"/>
                <a:ea typeface="Calibri" panose="020F0502020204030204" pitchFamily="34" charset="0"/>
                <a:cs typeface="Times New Roman" panose="02020603050405020304" pitchFamily="18" charset="0"/>
              </a:rPr>
              <a:t>CO-OP Project at Industry (Module-2) </a:t>
            </a:r>
            <a:r>
              <a:rPr lang="en-IN" b="1" dirty="0">
                <a:latin typeface="Times New Roman" panose="02020603050405020304" pitchFamily="18" charset="0"/>
                <a:ea typeface="Calibri" panose="020F0502020204030204" pitchFamily="34" charset="0"/>
                <a:cs typeface="Times New Roman" panose="02020603050405020304" pitchFamily="18" charset="0"/>
              </a:rPr>
              <a:t>(22CS421)</a:t>
            </a: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ctr">
              <a:lnSpc>
                <a:spcPct val="100000"/>
              </a:lnSpc>
              <a:spcBef>
                <a:spcPts val="400"/>
              </a:spcBef>
            </a:pPr>
            <a:r>
              <a:rPr lang="en-US" sz="3600" spc="-1" dirty="0">
                <a:latin typeface="Times New Roman" panose="02020603050405020304" pitchFamily="18" charset="0"/>
                <a:ea typeface="Calibri" panose="020F0502020204030204" pitchFamily="34" charset="0"/>
                <a:cs typeface="Times New Roman" panose="02020603050405020304" pitchFamily="18" charset="0"/>
              </a:rPr>
              <a:t>Beyond Speed: Evaluating the Cognitive Cost of Accelerated Learning in Digital Education Same</a:t>
            </a:r>
          </a:p>
          <a:p>
            <a:pPr algn="ctr">
              <a:lnSpc>
                <a:spcPct val="100000"/>
              </a:lnSpc>
              <a:spcBef>
                <a:spcPts val="400"/>
              </a:spcBef>
            </a:pPr>
            <a:endParaRPr lang="en-US" sz="2000"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 Kirti Sharma - 2210990516</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Divesh Thapa - 2210991528</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Harshita Lakhanpal - 2210991644</a:t>
            </a: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Dr Isha Kansal</a:t>
            </a: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GB" sz="1200" b="0" strike="noStrike" spc="-1">
              <a:latin typeface="Times New Roman"/>
            </a:endParaRPr>
          </a:p>
        </p:txBody>
      </p:sp>
      <p:sp>
        <p:nvSpPr>
          <p:cNvPr id="5" name="TextShape 2"/>
          <p:cNvSpPr txBox="1"/>
          <p:nvPr/>
        </p:nvSpPr>
        <p:spPr>
          <a:xfrm>
            <a:off x="164008" y="-130629"/>
            <a:ext cx="8707849" cy="6078943"/>
          </a:xfrm>
          <a:prstGeom prst="rect">
            <a:avLst/>
          </a:prstGeom>
          <a:noFill/>
          <a:ln w="9360">
            <a:noFill/>
          </a:ln>
        </p:spPr>
        <p:txBody>
          <a:bodyPr>
            <a:noAutofit/>
          </a:bodyPr>
          <a:lstStyle/>
          <a:p>
            <a:pPr marL="0" indent="0">
              <a:lnSpc>
                <a:spcPts val="7702"/>
              </a:lnSpc>
              <a:buNone/>
            </a:pPr>
            <a:r>
              <a:rPr lang="en-US" sz="3200" dirty="0">
                <a:latin typeface="Times New Roman" panose="02020603050405020304" pitchFamily="18" charset="0"/>
                <a:ea typeface="Roboto Slab" pitchFamily="34" charset="-122"/>
                <a:cs typeface="Times New Roman" panose="02020603050405020304" pitchFamily="18" charset="0"/>
              </a:rPr>
              <a:t>Introduction</a:t>
            </a:r>
            <a:r>
              <a:rPr lang="en-US" sz="3200" dirty="0">
                <a:solidFill>
                  <a:srgbClr val="3257B8"/>
                </a:solidFill>
                <a:latin typeface="Times New Roman" panose="02020603050405020304" pitchFamily="18" charset="0"/>
                <a:ea typeface="Roboto Slab" pitchFamily="34" charset="-122"/>
                <a:cs typeface="Times New Roman" panose="02020603050405020304" pitchFamily="18" charset="0"/>
              </a:rPr>
              <a:t> </a:t>
            </a:r>
          </a:p>
          <a:p>
            <a:pPr>
              <a:lnSpc>
                <a:spcPts val="2858"/>
              </a:lnSpc>
              <a:defRPr/>
            </a:pPr>
            <a:endParaRPr lang="en-US" sz="2400" dirty="0"/>
          </a:p>
          <a:p>
            <a:pPr>
              <a:lnSpc>
                <a:spcPts val="2858"/>
              </a:lnSpc>
              <a:defRPr/>
            </a:pPr>
            <a:r>
              <a:rPr lang="en-US" sz="2400" dirty="0">
                <a:latin typeface="Times New Roman" panose="02020603050405020304" pitchFamily="18" charset="0"/>
                <a:cs typeface="Times New Roman" panose="02020603050405020304" pitchFamily="18" charset="0"/>
              </a:rPr>
              <a:t>The rapid evolution of digital technology has significantly impacted modern education by making it easier and more convenient. Online platforms such as YouTube, Coursera, and Udemy offer students the opportunity to learn whenever and wherever they wish. A key feature of these platforms is the adjustable speed of video content — students can increase playback to 1.25x, 1.5x, or even 2x, an approach commonly referred to as </a:t>
            </a:r>
            <a:r>
              <a:rPr lang="en-US" sz="2400" b="1" dirty="0">
                <a:latin typeface="Times New Roman" panose="02020603050405020304" pitchFamily="18" charset="0"/>
                <a:cs typeface="Times New Roman" panose="02020603050405020304" pitchFamily="18" charset="0"/>
              </a:rPr>
              <a:t>speed-learning</a:t>
            </a:r>
            <a:r>
              <a:rPr lang="en-US" sz="2400" dirty="0">
                <a:latin typeface="Times New Roman" panose="02020603050405020304" pitchFamily="18" charset="0"/>
                <a:cs typeface="Times New Roman" panose="02020603050405020304" pitchFamily="18" charset="0"/>
              </a:rPr>
              <a:t>.</a:t>
            </a:r>
          </a:p>
          <a:p>
            <a:pPr marL="0" marR="0" lvl="0" indent="0" algn="l" defTabSz="914400" rtl="0" eaLnBrk="1" fontAlgn="auto" latinLnBrk="0" hangingPunct="1">
              <a:lnSpc>
                <a:spcPts val="2858"/>
              </a:lnSpc>
              <a:spcBef>
                <a:spcPts val="0"/>
              </a:spcBef>
              <a:spcAft>
                <a:spcPts val="0"/>
              </a:spcAft>
              <a:buClrTx/>
              <a:buSzTx/>
              <a:buFontTx/>
              <a:buNone/>
              <a:tabLst/>
              <a:defRPr/>
            </a:pPr>
            <a:endParaRPr kumimoji="0" lang="en-US"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ts val="2858"/>
              </a:lnSpc>
              <a:spcBef>
                <a:spcPts val="0"/>
              </a:spcBef>
              <a:spcAft>
                <a:spcPts val="0"/>
              </a:spcAft>
              <a:buClrTx/>
              <a:buSzTx/>
              <a:buFontTx/>
              <a:buNone/>
              <a:tabLst/>
              <a:defRPr/>
            </a:pPr>
            <a:endParaRPr kumimoji="0" lang="en-US" sz="1786" b="0" i="0" u="none" strike="noStrike" kern="1200" cap="none" spc="0" normalizeH="0" baseline="0" noProof="0" dirty="0">
              <a:ln>
                <a:noFill/>
              </a:ln>
              <a:solidFill>
                <a:prstClr val="black"/>
              </a:solidFill>
              <a:effectLst/>
              <a:uLnTx/>
              <a:uFillTx/>
              <a:latin typeface="Calibri" panose="020F0502020204030204"/>
              <a:ea typeface="+mn-ea"/>
              <a:cs typeface="+mn-cs"/>
            </a:endParaRPr>
          </a:p>
          <a:p>
            <a:pPr algn="ctr">
              <a:lnSpc>
                <a:spcPts val="7702"/>
              </a:lnSpc>
            </a:pPr>
            <a:endParaRPr lang="en-US" sz="1600" dirty="0"/>
          </a:p>
          <a:p>
            <a:pPr marL="0" indent="0">
              <a:lnSpc>
                <a:spcPts val="7702"/>
              </a:lnSpc>
              <a:buNone/>
            </a:pP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3</a:t>
            </a:fld>
            <a:endParaRPr lang="en-GB" sz="1200" b="0" strike="noStrike" spc="-1">
              <a:latin typeface="Times New Roman"/>
            </a:endParaRPr>
          </a:p>
        </p:txBody>
      </p:sp>
      <p:sp>
        <p:nvSpPr>
          <p:cNvPr id="5" name="TextShape 2"/>
          <p:cNvSpPr txBox="1"/>
          <p:nvPr/>
        </p:nvSpPr>
        <p:spPr>
          <a:xfrm>
            <a:off x="164008" y="-97971"/>
            <a:ext cx="8707849" cy="6819171"/>
          </a:xfrm>
          <a:prstGeom prst="rect">
            <a:avLst/>
          </a:prstGeom>
          <a:noFill/>
          <a:ln w="9360">
            <a:noFill/>
          </a:ln>
        </p:spPr>
        <p:txBody>
          <a:bodyPr>
            <a:noAutofit/>
          </a:bodyPr>
          <a:lstStyle/>
          <a:p>
            <a:pPr>
              <a:lnSpc>
                <a:spcPts val="7702"/>
              </a:lnSpc>
            </a:pPr>
            <a:r>
              <a:rPr lang="en-US" sz="3200" dirty="0">
                <a:latin typeface="Times New Roman" panose="02020603050405020304" pitchFamily="18" charset="0"/>
                <a:ea typeface="Roboto Slab" pitchFamily="34" charset="-122"/>
                <a:cs typeface="Times New Roman" panose="02020603050405020304" pitchFamily="18" charset="0"/>
              </a:rPr>
              <a:t>Benefits and limitations</a:t>
            </a:r>
          </a:p>
          <a:p>
            <a:pPr>
              <a:lnSpc>
                <a:spcPts val="2858"/>
              </a:lnSpc>
              <a:defRPr/>
            </a:pPr>
            <a:endParaRPr lang="en-IN" sz="2400" b="1" dirty="0"/>
          </a:p>
          <a:p>
            <a:pPr>
              <a:lnSpc>
                <a:spcPts val="2858"/>
              </a:lnSpc>
              <a:defRPr/>
            </a:pPr>
            <a:r>
              <a:rPr lang="en-IN" sz="2400" b="1" dirty="0">
                <a:latin typeface="Times New Roman" panose="02020603050405020304" pitchFamily="18" charset="0"/>
                <a:cs typeface="Times New Roman" panose="02020603050405020304" pitchFamily="18" charset="0"/>
              </a:rPr>
              <a:t>Optimal Speed Range</a:t>
            </a:r>
          </a:p>
          <a:p>
            <a:pPr>
              <a:lnSpc>
                <a:spcPts val="2858"/>
              </a:lnSpc>
              <a:defRPr/>
            </a:pPr>
            <a:r>
              <a:rPr lang="en-US" sz="2000" dirty="0">
                <a:latin typeface="Times New Roman" panose="02020603050405020304" pitchFamily="18" charset="0"/>
                <a:cs typeface="Times New Roman" panose="02020603050405020304" pitchFamily="18" charset="0"/>
              </a:rPr>
              <a:t>Studies have demonstrated that a playback speed of </a:t>
            </a:r>
            <a:r>
              <a:rPr lang="en-US" sz="2000" b="1" dirty="0">
                <a:latin typeface="Times New Roman" panose="02020603050405020304" pitchFamily="18" charset="0"/>
                <a:cs typeface="Times New Roman" panose="02020603050405020304" pitchFamily="18" charset="0"/>
              </a:rPr>
              <a:t>1.25x to 1.5x</a:t>
            </a:r>
            <a:r>
              <a:rPr lang="en-US" sz="2000" dirty="0">
                <a:latin typeface="Times New Roman" panose="02020603050405020304" pitchFamily="18" charset="0"/>
                <a:cs typeface="Times New Roman" panose="02020603050405020304" pitchFamily="18" charset="0"/>
              </a:rPr>
              <a:t> is optimal for learning efficiency. At this range, students process content quickly while maintaining cognitive balance — neither bored nor overwhelmed.</a:t>
            </a:r>
            <a:r>
              <a:rPr lang="en-US" sz="1600" dirty="0">
                <a:latin typeface="Times New Roman" panose="02020603050405020304" pitchFamily="18" charset="0"/>
                <a:cs typeface="Times New Roman" panose="02020603050405020304" pitchFamily="18" charset="0"/>
              </a:rPr>
              <a:t>.</a:t>
            </a:r>
            <a:endParaRPr lang="en-US" sz="1786" dirty="0">
              <a:latin typeface="Times New Roman" panose="02020603050405020304" pitchFamily="18" charset="0"/>
              <a:cs typeface="Times New Roman" panose="02020603050405020304" pitchFamily="18" charset="0"/>
            </a:endParaRPr>
          </a:p>
          <a:p>
            <a:pPr>
              <a:lnSpc>
                <a:spcPts val="2858"/>
              </a:lnSpc>
              <a:defRPr/>
            </a:pPr>
            <a:endParaRPr lang="en-US" sz="1786" dirty="0"/>
          </a:p>
          <a:p>
            <a:pPr>
              <a:lnSpc>
                <a:spcPts val="2858"/>
              </a:lnSpc>
              <a:defRPr/>
            </a:pPr>
            <a:r>
              <a:rPr lang="en-IN" sz="2400" b="1" dirty="0">
                <a:latin typeface="Times New Roman" panose="02020603050405020304" pitchFamily="18" charset="0"/>
                <a:cs typeface="Times New Roman" panose="02020603050405020304" pitchFamily="18" charset="0"/>
              </a:rPr>
              <a:t>The illusion of Productivity</a:t>
            </a:r>
          </a:p>
          <a:p>
            <a:pPr>
              <a:lnSpc>
                <a:spcPts val="2858"/>
              </a:lnSpc>
              <a:defRPr/>
            </a:pPr>
            <a:r>
              <a:rPr lang="en-US" sz="2000" dirty="0">
                <a:latin typeface="Times New Roman" panose="02020603050405020304" pitchFamily="18" charset="0"/>
                <a:cs typeface="Times New Roman" panose="02020603050405020304" pitchFamily="18" charset="0"/>
              </a:rPr>
              <a:t>Research has identified a phenomenon where learners </a:t>
            </a:r>
            <a:r>
              <a:rPr lang="en-US" sz="2000" b="1" dirty="0">
                <a:latin typeface="Times New Roman" panose="02020603050405020304" pitchFamily="18" charset="0"/>
                <a:cs typeface="Times New Roman" panose="02020603050405020304" pitchFamily="18" charset="0"/>
              </a:rPr>
              <a:t>overestimate their level of understanding</a:t>
            </a:r>
            <a:r>
              <a:rPr lang="en-US" sz="2000" dirty="0">
                <a:latin typeface="Times New Roman" panose="02020603050405020304" pitchFamily="18" charset="0"/>
                <a:cs typeface="Times New Roman" panose="02020603050405020304" pitchFamily="18" charset="0"/>
              </a:rPr>
              <a:t> when consuming content at high speeds. Learners feel satisfied and complete content quickly, but fail to retain it — a disconnect between perceived and actual learning.</a:t>
            </a:r>
          </a:p>
          <a:p>
            <a:pPr>
              <a:lnSpc>
                <a:spcPts val="2858"/>
              </a:lnSpc>
              <a:defRPr/>
            </a:pPr>
            <a:r>
              <a:rPr lang="en-US" sz="1600" dirty="0"/>
              <a:t>.</a:t>
            </a:r>
            <a:endParaRPr lang="en-US" sz="1786" dirty="0"/>
          </a:p>
          <a:p>
            <a:pPr>
              <a:lnSpc>
                <a:spcPts val="2858"/>
              </a:lnSpc>
              <a:defRPr/>
            </a:pPr>
            <a:endParaRPr lang="en-US" sz="1786" dirty="0"/>
          </a:p>
          <a:p>
            <a:pPr>
              <a:lnSpc>
                <a:spcPts val="2858"/>
              </a:lnSpc>
              <a:defRPr/>
            </a:pPr>
            <a:r>
              <a:rPr lang="en-US" sz="1600" dirty="0"/>
              <a:t>.</a:t>
            </a:r>
          </a:p>
          <a:p>
            <a:pPr>
              <a:lnSpc>
                <a:spcPts val="2858"/>
              </a:lnSpc>
              <a:defRPr/>
            </a:pPr>
            <a:endParaRPr lang="en-US" sz="1786" dirty="0"/>
          </a:p>
          <a:p>
            <a:pPr marL="0" marR="0" lvl="0" indent="0" algn="l" defTabSz="914400" rtl="0" eaLnBrk="1" fontAlgn="auto" latinLnBrk="0" hangingPunct="1">
              <a:lnSpc>
                <a:spcPts val="2858"/>
              </a:lnSpc>
              <a:spcBef>
                <a:spcPts val="0"/>
              </a:spcBef>
              <a:spcAft>
                <a:spcPts val="0"/>
              </a:spcAft>
              <a:buClrTx/>
              <a:buSzTx/>
              <a:buFontTx/>
              <a:buNone/>
              <a:tabLst/>
              <a:defRPr/>
            </a:pPr>
            <a:endParaRPr kumimoji="0" lang="en-US" sz="1786" b="0" i="0" u="none" strike="noStrike" kern="1200" cap="none" spc="0" normalizeH="0" baseline="0" noProof="0" dirty="0">
              <a:ln>
                <a:noFill/>
              </a:ln>
              <a:solidFill>
                <a:prstClr val="black"/>
              </a:solidFill>
              <a:effectLst/>
              <a:uLnTx/>
              <a:uFillTx/>
              <a:latin typeface="Calibri" panose="020F0502020204030204"/>
              <a:ea typeface="+mn-ea"/>
              <a:cs typeface="+mn-cs"/>
            </a:endParaRPr>
          </a:p>
          <a:p>
            <a:pPr algn="ctr">
              <a:lnSpc>
                <a:spcPts val="7702"/>
              </a:lnSpc>
            </a:pPr>
            <a:endParaRPr lang="en-US" sz="1600" dirty="0"/>
          </a:p>
          <a:p>
            <a:pPr marL="0" indent="0">
              <a:lnSpc>
                <a:spcPts val="7702"/>
              </a:lnSpc>
              <a:buNone/>
            </a:pPr>
            <a:endParaRPr lang="en-US" sz="2000" dirty="0"/>
          </a:p>
        </p:txBody>
      </p:sp>
    </p:spTree>
    <p:extLst>
      <p:ext uri="{BB962C8B-B14F-4D97-AF65-F5344CB8AC3E}">
        <p14:creationId xmlns:p14="http://schemas.microsoft.com/office/powerpoint/2010/main" val="16485268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9D009-50A0-DA13-AD23-3589AE1AAB7E}"/>
            </a:ext>
          </a:extLst>
        </p:cNvPr>
        <p:cNvGrpSpPr/>
        <p:nvPr/>
      </p:nvGrpSpPr>
      <p:grpSpPr>
        <a:xfrm>
          <a:off x="0" y="0"/>
          <a:ext cx="0" cy="0"/>
          <a:chOff x="0" y="0"/>
          <a:chExt cx="0" cy="0"/>
        </a:xfrm>
      </p:grpSpPr>
      <p:sp>
        <p:nvSpPr>
          <p:cNvPr id="110" name="TextShape 3">
            <a:extLst>
              <a:ext uri="{FF2B5EF4-FFF2-40B4-BE49-F238E27FC236}">
                <a16:creationId xmlns:a16="http://schemas.microsoft.com/office/drawing/2014/main" id="{8C7D34F6-D582-FF38-2D27-04E94268C2A9}"/>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4</a:t>
            </a:fld>
            <a:endParaRPr lang="en-GB" sz="1200" b="0" strike="noStrike" spc="-1">
              <a:latin typeface="Times New Roman"/>
            </a:endParaRPr>
          </a:p>
        </p:txBody>
      </p:sp>
      <p:sp>
        <p:nvSpPr>
          <p:cNvPr id="5" name="TextShape 2">
            <a:extLst>
              <a:ext uri="{FF2B5EF4-FFF2-40B4-BE49-F238E27FC236}">
                <a16:creationId xmlns:a16="http://schemas.microsoft.com/office/drawing/2014/main" id="{CB44ABF2-D0B6-0D15-57E8-4FC3C1758819}"/>
              </a:ext>
            </a:extLst>
          </p:cNvPr>
          <p:cNvSpPr txBox="1"/>
          <p:nvPr/>
        </p:nvSpPr>
        <p:spPr>
          <a:xfrm>
            <a:off x="164008" y="-87086"/>
            <a:ext cx="8707849" cy="6808286"/>
          </a:xfrm>
          <a:prstGeom prst="rect">
            <a:avLst/>
          </a:prstGeom>
          <a:noFill/>
          <a:ln w="9360">
            <a:noFill/>
          </a:ln>
        </p:spPr>
        <p:txBody>
          <a:bodyPr>
            <a:noAutofit/>
          </a:bodyPr>
          <a:lstStyle/>
          <a:p>
            <a:pPr>
              <a:lnSpc>
                <a:spcPts val="7702"/>
              </a:lnSpc>
            </a:pPr>
            <a:r>
              <a:rPr lang="en-US" sz="3200" dirty="0">
                <a:latin typeface="Times New Roman" panose="02020603050405020304" pitchFamily="18" charset="0"/>
                <a:ea typeface="Roboto Slab" pitchFamily="34" charset="-122"/>
                <a:cs typeface="Times New Roman" panose="02020603050405020304" pitchFamily="18" charset="0"/>
              </a:rPr>
              <a:t>Benefits and limitations</a:t>
            </a:r>
          </a:p>
          <a:p>
            <a:pPr>
              <a:lnSpc>
                <a:spcPts val="2858"/>
              </a:lnSpc>
              <a:defRPr/>
            </a:pPr>
            <a:endParaRPr lang="en-IN" sz="2400" b="1" dirty="0"/>
          </a:p>
          <a:p>
            <a:pPr>
              <a:lnSpc>
                <a:spcPts val="2858"/>
              </a:lnSpc>
              <a:defRPr/>
            </a:pPr>
            <a:r>
              <a:rPr lang="en-IN" sz="2400" b="1" dirty="0">
                <a:latin typeface="Times New Roman" panose="02020603050405020304" pitchFamily="18" charset="0"/>
                <a:cs typeface="Times New Roman" panose="02020603050405020304" pitchFamily="18" charset="0"/>
              </a:rPr>
              <a:t>Cognitive Load Theory</a:t>
            </a:r>
          </a:p>
          <a:p>
            <a:pPr>
              <a:lnSpc>
                <a:spcPts val="2858"/>
              </a:lnSpc>
              <a:defRPr/>
            </a:pPr>
            <a:r>
              <a:rPr lang="en-US" sz="2000" dirty="0">
                <a:latin typeface="Times New Roman" panose="02020603050405020304" pitchFamily="18" charset="0"/>
                <a:cs typeface="Times New Roman" panose="02020603050405020304" pitchFamily="18" charset="0"/>
              </a:rPr>
              <a:t>The human brain has a </a:t>
            </a:r>
            <a:r>
              <a:rPr lang="en-US" sz="2000" b="1" dirty="0">
                <a:latin typeface="Times New Roman" panose="02020603050405020304" pitchFamily="18" charset="0"/>
                <a:cs typeface="Times New Roman" panose="02020603050405020304" pitchFamily="18" charset="0"/>
              </a:rPr>
              <a:t>limited capacity for cognitive processing</a:t>
            </a:r>
            <a:r>
              <a:rPr lang="en-US" sz="2000" dirty="0">
                <a:latin typeface="Times New Roman" panose="02020603050405020304" pitchFamily="18" charset="0"/>
                <a:cs typeface="Times New Roman" panose="02020603050405020304" pitchFamily="18" charset="0"/>
              </a:rPr>
              <a:t>. Delivering too much information in too little time causes cognitive overload. At 2x speed, learners show reduced understanding, lower retention, and increased mental fatigue — especially those unfamiliar with the subject matter.</a:t>
            </a:r>
          </a:p>
          <a:p>
            <a:pPr>
              <a:lnSpc>
                <a:spcPts val="2858"/>
              </a:lnSpc>
              <a:defRPr/>
            </a:pPr>
            <a:endParaRPr lang="en-US" sz="1786" dirty="0"/>
          </a:p>
          <a:p>
            <a:pPr>
              <a:lnSpc>
                <a:spcPts val="2858"/>
              </a:lnSpc>
              <a:defRPr/>
            </a:pPr>
            <a:r>
              <a:rPr lang="en-IN" sz="2400" b="1" dirty="0">
                <a:latin typeface="Times New Roman" panose="02020603050405020304" pitchFamily="18" charset="0"/>
                <a:cs typeface="Times New Roman" panose="02020603050405020304" pitchFamily="18" charset="0"/>
              </a:rPr>
              <a:t>Individual Differences</a:t>
            </a:r>
          </a:p>
          <a:p>
            <a:pPr>
              <a:lnSpc>
                <a:spcPts val="2858"/>
              </a:lnSpc>
              <a:defRPr/>
            </a:pPr>
            <a:r>
              <a:rPr lang="en-US" sz="2000" dirty="0">
                <a:latin typeface="Times New Roman" panose="02020603050405020304" pitchFamily="18" charset="0"/>
                <a:cs typeface="Times New Roman" panose="02020603050405020304" pitchFamily="18" charset="0"/>
              </a:rPr>
              <a:t>Learners' </a:t>
            </a:r>
            <a:r>
              <a:rPr lang="en-US" sz="2000" b="1" dirty="0">
                <a:latin typeface="Times New Roman" panose="02020603050405020304" pitchFamily="18" charset="0"/>
                <a:cs typeface="Times New Roman" panose="02020603050405020304" pitchFamily="18" charset="0"/>
              </a:rPr>
              <a:t>prior knowledge, learning style, and attention span</a:t>
            </a:r>
            <a:r>
              <a:rPr lang="en-US" sz="2000" dirty="0">
                <a:latin typeface="Times New Roman" panose="02020603050405020304" pitchFamily="18" charset="0"/>
                <a:cs typeface="Times New Roman" panose="02020603050405020304" pitchFamily="18" charset="0"/>
              </a:rPr>
              <a:t> play critical roles in determining the effectiveness of speed-learning. A one-size-fits-all approach is therefore inappropriate for digital education contexts.</a:t>
            </a:r>
          </a:p>
          <a:p>
            <a:pPr>
              <a:lnSpc>
                <a:spcPts val="2858"/>
              </a:lnSpc>
              <a:defRPr/>
            </a:pPr>
            <a:r>
              <a:rPr lang="en-US" sz="2000" dirty="0">
                <a:latin typeface="Times New Roman" panose="02020603050405020304" pitchFamily="18" charset="0"/>
                <a:cs typeface="Times New Roman" panose="02020603050405020304" pitchFamily="18" charset="0"/>
              </a:rPr>
              <a:t>.</a:t>
            </a:r>
          </a:p>
          <a:p>
            <a:pPr>
              <a:lnSpc>
                <a:spcPts val="2858"/>
              </a:lnSpc>
              <a:defRPr/>
            </a:pPr>
            <a:endParaRPr lang="en-US" sz="1786" dirty="0"/>
          </a:p>
          <a:p>
            <a:pPr>
              <a:lnSpc>
                <a:spcPts val="2858"/>
              </a:lnSpc>
              <a:defRPr/>
            </a:pPr>
            <a:r>
              <a:rPr lang="en-US" sz="1600" dirty="0"/>
              <a:t>.</a:t>
            </a:r>
          </a:p>
          <a:p>
            <a:pPr>
              <a:lnSpc>
                <a:spcPts val="2858"/>
              </a:lnSpc>
              <a:defRPr/>
            </a:pPr>
            <a:endParaRPr lang="en-US" sz="1786" dirty="0"/>
          </a:p>
          <a:p>
            <a:pPr marL="0" marR="0" lvl="0" indent="0" algn="l" defTabSz="914400" rtl="0" eaLnBrk="1" fontAlgn="auto" latinLnBrk="0" hangingPunct="1">
              <a:lnSpc>
                <a:spcPts val="2858"/>
              </a:lnSpc>
              <a:spcBef>
                <a:spcPts val="0"/>
              </a:spcBef>
              <a:spcAft>
                <a:spcPts val="0"/>
              </a:spcAft>
              <a:buClrTx/>
              <a:buSzTx/>
              <a:buFontTx/>
              <a:buNone/>
              <a:tabLst/>
              <a:defRPr/>
            </a:pPr>
            <a:endParaRPr kumimoji="0" lang="en-US" sz="1786" b="0" i="0" u="none" strike="noStrike" kern="1200" cap="none" spc="0" normalizeH="0" baseline="0" noProof="0" dirty="0">
              <a:ln>
                <a:noFill/>
              </a:ln>
              <a:solidFill>
                <a:prstClr val="black"/>
              </a:solidFill>
              <a:effectLst/>
              <a:uLnTx/>
              <a:uFillTx/>
              <a:latin typeface="Calibri" panose="020F0502020204030204"/>
              <a:ea typeface="+mn-ea"/>
              <a:cs typeface="+mn-cs"/>
            </a:endParaRPr>
          </a:p>
          <a:p>
            <a:pPr algn="ctr">
              <a:lnSpc>
                <a:spcPts val="7702"/>
              </a:lnSpc>
            </a:pPr>
            <a:endParaRPr lang="en-US" sz="1600" dirty="0"/>
          </a:p>
          <a:p>
            <a:pPr marL="0" indent="0">
              <a:lnSpc>
                <a:spcPts val="7702"/>
              </a:lnSpc>
              <a:buNone/>
            </a:pPr>
            <a:endParaRPr lang="en-US" sz="2000" dirty="0"/>
          </a:p>
        </p:txBody>
      </p:sp>
    </p:spTree>
    <p:extLst>
      <p:ext uri="{BB962C8B-B14F-4D97-AF65-F5344CB8AC3E}">
        <p14:creationId xmlns:p14="http://schemas.microsoft.com/office/powerpoint/2010/main" val="2176484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CE41CA-F5DD-BA55-E4D2-E8B475E9E01E}"/>
            </a:ext>
          </a:extLst>
        </p:cNvPr>
        <p:cNvGrpSpPr/>
        <p:nvPr/>
      </p:nvGrpSpPr>
      <p:grpSpPr>
        <a:xfrm>
          <a:off x="0" y="0"/>
          <a:ext cx="0" cy="0"/>
          <a:chOff x="0" y="0"/>
          <a:chExt cx="0" cy="0"/>
        </a:xfrm>
      </p:grpSpPr>
      <p:sp>
        <p:nvSpPr>
          <p:cNvPr id="110" name="TextShape 3">
            <a:extLst>
              <a:ext uri="{FF2B5EF4-FFF2-40B4-BE49-F238E27FC236}">
                <a16:creationId xmlns:a16="http://schemas.microsoft.com/office/drawing/2014/main" id="{CBEE4D90-BC90-3B4D-643F-1467FE1540EB}"/>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5</a:t>
            </a:fld>
            <a:endParaRPr lang="en-GB" sz="1200" b="0" strike="noStrike" spc="-1">
              <a:latin typeface="Times New Roman"/>
            </a:endParaRPr>
          </a:p>
        </p:txBody>
      </p:sp>
      <p:sp>
        <p:nvSpPr>
          <p:cNvPr id="5" name="TextShape 2">
            <a:extLst>
              <a:ext uri="{FF2B5EF4-FFF2-40B4-BE49-F238E27FC236}">
                <a16:creationId xmlns:a16="http://schemas.microsoft.com/office/drawing/2014/main" id="{5E40D000-A9AC-A2C1-9C09-17729A27D248}"/>
              </a:ext>
            </a:extLst>
          </p:cNvPr>
          <p:cNvSpPr txBox="1"/>
          <p:nvPr/>
        </p:nvSpPr>
        <p:spPr>
          <a:xfrm>
            <a:off x="164008" y="-141514"/>
            <a:ext cx="8707849" cy="6862714"/>
          </a:xfrm>
          <a:prstGeom prst="rect">
            <a:avLst/>
          </a:prstGeom>
          <a:noFill/>
          <a:ln w="9360">
            <a:noFill/>
          </a:ln>
        </p:spPr>
        <p:txBody>
          <a:bodyPr>
            <a:noAutofit/>
          </a:bodyPr>
          <a:lstStyle/>
          <a:p>
            <a:pPr>
              <a:lnSpc>
                <a:spcPts val="7702"/>
              </a:lnSpc>
            </a:pPr>
            <a:r>
              <a:rPr lang="en-US" sz="3200" dirty="0">
                <a:latin typeface="Times New Roman" panose="02020603050405020304" pitchFamily="18" charset="0"/>
                <a:ea typeface="Roboto Slab" pitchFamily="34" charset="-122"/>
                <a:cs typeface="Times New Roman" panose="02020603050405020304" pitchFamily="18" charset="0"/>
              </a:rPr>
              <a:t>Methodology</a:t>
            </a:r>
          </a:p>
          <a:p>
            <a:pPr>
              <a:lnSpc>
                <a:spcPts val="2858"/>
              </a:lnSpc>
              <a:defRPr/>
            </a:pPr>
            <a:endParaRPr lang="en-IN" sz="2400" b="1" dirty="0"/>
          </a:p>
          <a:p>
            <a:pPr>
              <a:lnSpc>
                <a:spcPts val="2858"/>
              </a:lnSpc>
              <a:defRPr/>
            </a:pPr>
            <a:r>
              <a:rPr lang="en-IN" sz="2400" b="1" dirty="0">
                <a:latin typeface="Times New Roman" panose="02020603050405020304" pitchFamily="18" charset="0"/>
                <a:cs typeface="Times New Roman" panose="02020603050405020304" pitchFamily="18" charset="0"/>
              </a:rPr>
              <a:t>Dataset Overview</a:t>
            </a:r>
            <a:endParaRPr lang="en-IN" sz="2400" b="1" dirty="0">
              <a:solidFill>
                <a:schemeClr val="tx2"/>
              </a:solidFill>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Primary data was collected via a structured survey targeting students engaged with online learning platforms. The dataset captures demographic information, learning patterns, cognition, and retention across students from different courses and study </a:t>
            </a:r>
            <a:r>
              <a:rPr lang="en-US" sz="2000" dirty="0" err="1">
                <a:latin typeface="Times New Roman" panose="02020603050405020304" pitchFamily="18" charset="0"/>
                <a:cs typeface="Times New Roman" panose="02020603050405020304" pitchFamily="18" charset="0"/>
              </a:rPr>
              <a:t>levels.Preferred</a:t>
            </a:r>
            <a:r>
              <a:rPr lang="en-US" sz="2000" dirty="0">
                <a:latin typeface="Times New Roman" panose="02020603050405020304" pitchFamily="18" charset="0"/>
                <a:cs typeface="Times New Roman" panose="02020603050405020304" pitchFamily="18" charset="0"/>
              </a:rPr>
              <a:t> video playback speed (1x, 1.5x, 2x, etc.)Reasons for watching at faster speeds Frequency of pausing or rewinding Platforms used (YouTube, Coursera, Udemy, etc.)</a:t>
            </a:r>
          </a:p>
          <a:p>
            <a:endParaRPr lang="en-US" dirty="0">
              <a:latin typeface="Times New Roman" panose="02020603050405020304" pitchFamily="18" charset="0"/>
              <a:cs typeface="Times New Roman" panose="02020603050405020304" pitchFamily="18" charset="0"/>
            </a:endParaRPr>
          </a:p>
          <a:p>
            <a:pPr>
              <a:lnSpc>
                <a:spcPts val="2858"/>
              </a:lnSpc>
              <a:defRPr/>
            </a:pPr>
            <a:r>
              <a:rPr lang="en-IN" sz="2400" b="1" dirty="0">
                <a:latin typeface="Times New Roman" panose="02020603050405020304" pitchFamily="18" charset="0"/>
                <a:cs typeface="Times New Roman" panose="02020603050405020304" pitchFamily="18" charset="0"/>
              </a:rPr>
              <a:t>Cognitive &amp; Psychological Measures</a:t>
            </a:r>
            <a:endParaRPr lang="en-IN" sz="2400" b="1" dirty="0">
              <a:solidFill>
                <a:schemeClr val="tx2"/>
              </a:solidFill>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Beyond learning </a:t>
            </a:r>
            <a:r>
              <a:rPr lang="en-US" sz="2000" dirty="0" err="1">
                <a:latin typeface="Times New Roman" panose="02020603050405020304" pitchFamily="18" charset="0"/>
                <a:cs typeface="Times New Roman" panose="02020603050405020304" pitchFamily="18" charset="0"/>
              </a:rPr>
              <a:t>behaviour</a:t>
            </a:r>
            <a:r>
              <a:rPr lang="en-US" sz="2000" dirty="0">
                <a:latin typeface="Times New Roman" panose="02020603050405020304" pitchFamily="18" charset="0"/>
                <a:cs typeface="Times New Roman" panose="02020603050405020304" pitchFamily="18" charset="0"/>
              </a:rPr>
              <a:t>, the survey captured psychological and cognitive indicators to understand the deeper impact of speed on the mind:</a:t>
            </a:r>
          </a:p>
          <a:p>
            <a:r>
              <a:rPr lang="en-US" sz="2000" dirty="0">
                <a:latin typeface="Times New Roman" panose="02020603050405020304" pitchFamily="18" charset="0"/>
                <a:cs typeface="Times New Roman" panose="02020603050405020304" pitchFamily="18" charset="0"/>
              </a:rPr>
              <a:t>Information retention duration</a:t>
            </a:r>
          </a:p>
          <a:p>
            <a:r>
              <a:rPr lang="en-US" sz="2000" dirty="0">
                <a:latin typeface="Times New Roman" panose="02020603050405020304" pitchFamily="18" charset="0"/>
                <a:cs typeface="Times New Roman" panose="02020603050405020304" pitchFamily="18" charset="0"/>
              </a:rPr>
              <a:t>Confidence in recalling information</a:t>
            </a:r>
          </a:p>
          <a:p>
            <a:r>
              <a:rPr lang="en-US" sz="2000" dirty="0">
                <a:latin typeface="Times New Roman" panose="02020603050405020304" pitchFamily="18" charset="0"/>
                <a:cs typeface="Times New Roman" panose="02020603050405020304" pitchFamily="18" charset="0"/>
              </a:rPr>
              <a:t>Impact on understanding visual content (diagrams, animations)</a:t>
            </a:r>
          </a:p>
          <a:p>
            <a:pPr>
              <a:lnSpc>
                <a:spcPts val="2858"/>
              </a:lnSpc>
              <a:defRPr/>
            </a:pPr>
            <a:r>
              <a:rPr lang="en-US" sz="2000" dirty="0"/>
              <a:t>.</a:t>
            </a:r>
          </a:p>
          <a:p>
            <a:pPr>
              <a:lnSpc>
                <a:spcPts val="2858"/>
              </a:lnSpc>
              <a:defRPr/>
            </a:pPr>
            <a:endParaRPr lang="en-US" sz="1786" dirty="0"/>
          </a:p>
          <a:p>
            <a:pPr>
              <a:lnSpc>
                <a:spcPts val="2858"/>
              </a:lnSpc>
              <a:defRPr/>
            </a:pPr>
            <a:r>
              <a:rPr lang="en-US" sz="1600" dirty="0"/>
              <a:t>.</a:t>
            </a:r>
          </a:p>
          <a:p>
            <a:pPr>
              <a:lnSpc>
                <a:spcPts val="2858"/>
              </a:lnSpc>
              <a:defRPr/>
            </a:pPr>
            <a:endParaRPr lang="en-US" sz="1786" dirty="0"/>
          </a:p>
          <a:p>
            <a:pPr marL="0" marR="0" lvl="0" indent="0" algn="l" defTabSz="914400" rtl="0" eaLnBrk="1" fontAlgn="auto" latinLnBrk="0" hangingPunct="1">
              <a:lnSpc>
                <a:spcPts val="2858"/>
              </a:lnSpc>
              <a:spcBef>
                <a:spcPts val="0"/>
              </a:spcBef>
              <a:spcAft>
                <a:spcPts val="0"/>
              </a:spcAft>
              <a:buClrTx/>
              <a:buSzTx/>
              <a:buFontTx/>
              <a:buNone/>
              <a:tabLst/>
              <a:defRPr/>
            </a:pPr>
            <a:endParaRPr kumimoji="0" lang="en-US" sz="1786" b="0" i="0" u="none" strike="noStrike" kern="1200" cap="none" spc="0" normalizeH="0" baseline="0" noProof="0" dirty="0">
              <a:ln>
                <a:noFill/>
              </a:ln>
              <a:solidFill>
                <a:prstClr val="black"/>
              </a:solidFill>
              <a:effectLst/>
              <a:uLnTx/>
              <a:uFillTx/>
              <a:latin typeface="Calibri" panose="020F0502020204030204"/>
              <a:ea typeface="+mn-ea"/>
              <a:cs typeface="+mn-cs"/>
            </a:endParaRPr>
          </a:p>
          <a:p>
            <a:pPr algn="ctr">
              <a:lnSpc>
                <a:spcPts val="7702"/>
              </a:lnSpc>
            </a:pPr>
            <a:endParaRPr lang="en-US" sz="1600" dirty="0"/>
          </a:p>
          <a:p>
            <a:pPr marL="0" indent="0">
              <a:lnSpc>
                <a:spcPts val="7702"/>
              </a:lnSpc>
              <a:buNone/>
            </a:pPr>
            <a:endParaRPr lang="en-US" sz="2000" dirty="0"/>
          </a:p>
        </p:txBody>
      </p:sp>
    </p:spTree>
    <p:extLst>
      <p:ext uri="{BB962C8B-B14F-4D97-AF65-F5344CB8AC3E}">
        <p14:creationId xmlns:p14="http://schemas.microsoft.com/office/powerpoint/2010/main" val="20389043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1C096B-A7D6-77E7-E769-C74E3AB928E0}"/>
            </a:ext>
          </a:extLst>
        </p:cNvPr>
        <p:cNvGrpSpPr/>
        <p:nvPr/>
      </p:nvGrpSpPr>
      <p:grpSpPr>
        <a:xfrm>
          <a:off x="0" y="0"/>
          <a:ext cx="0" cy="0"/>
          <a:chOff x="0" y="0"/>
          <a:chExt cx="0" cy="0"/>
        </a:xfrm>
      </p:grpSpPr>
      <p:sp>
        <p:nvSpPr>
          <p:cNvPr id="110" name="TextShape 3">
            <a:extLst>
              <a:ext uri="{FF2B5EF4-FFF2-40B4-BE49-F238E27FC236}">
                <a16:creationId xmlns:a16="http://schemas.microsoft.com/office/drawing/2014/main" id="{62D123FF-9AFE-17B2-2B2B-4F5A1E66E4D9}"/>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6</a:t>
            </a:fld>
            <a:endParaRPr lang="en-GB" sz="1200" b="0" strike="noStrike" spc="-1">
              <a:latin typeface="Times New Roman"/>
            </a:endParaRPr>
          </a:p>
        </p:txBody>
      </p:sp>
      <p:sp>
        <p:nvSpPr>
          <p:cNvPr id="5" name="TextShape 2">
            <a:extLst>
              <a:ext uri="{FF2B5EF4-FFF2-40B4-BE49-F238E27FC236}">
                <a16:creationId xmlns:a16="http://schemas.microsoft.com/office/drawing/2014/main" id="{46E57E4A-E809-47C2-B601-898AD97A0118}"/>
              </a:ext>
            </a:extLst>
          </p:cNvPr>
          <p:cNvSpPr txBox="1"/>
          <p:nvPr/>
        </p:nvSpPr>
        <p:spPr>
          <a:xfrm>
            <a:off x="164008" y="-130629"/>
            <a:ext cx="8707849" cy="6851829"/>
          </a:xfrm>
          <a:prstGeom prst="rect">
            <a:avLst/>
          </a:prstGeom>
          <a:noFill/>
          <a:ln w="9360">
            <a:noFill/>
          </a:ln>
        </p:spPr>
        <p:txBody>
          <a:bodyPr>
            <a:noAutofit/>
          </a:bodyPr>
          <a:lstStyle/>
          <a:p>
            <a:pPr>
              <a:lnSpc>
                <a:spcPts val="7702"/>
              </a:lnSpc>
            </a:pPr>
            <a:r>
              <a:rPr lang="en-US" sz="3200" dirty="0">
                <a:latin typeface="Times New Roman" panose="02020603050405020304" pitchFamily="18" charset="0"/>
                <a:ea typeface="Roboto Slab" pitchFamily="34" charset="-122"/>
                <a:cs typeface="Times New Roman" panose="02020603050405020304" pitchFamily="18" charset="0"/>
              </a:rPr>
              <a:t>Results</a:t>
            </a:r>
          </a:p>
          <a:p>
            <a:pPr>
              <a:lnSpc>
                <a:spcPts val="2858"/>
              </a:lnSpc>
              <a:defRPr/>
            </a:pPr>
            <a:r>
              <a:rPr lang="en-IN" sz="2400" b="1" dirty="0">
                <a:latin typeface="Times New Roman" panose="02020603050405020304" pitchFamily="18" charset="0"/>
                <a:cs typeface="Times New Roman" panose="02020603050405020304" pitchFamily="18" charset="0"/>
              </a:rPr>
              <a:t>Speed Preferences</a:t>
            </a:r>
            <a:endParaRPr lang="en-IN" sz="2400" b="1" dirty="0">
              <a:solidFill>
                <a:schemeClr val="tx2"/>
              </a:solidFill>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majority of participants chose </a:t>
            </a:r>
            <a:r>
              <a:rPr lang="en-US" sz="2000" b="1" dirty="0">
                <a:latin typeface="Times New Roman" panose="02020603050405020304" pitchFamily="18" charset="0"/>
                <a:cs typeface="Times New Roman" panose="02020603050405020304" pitchFamily="18" charset="0"/>
              </a:rPr>
              <a:t>1.5x speed</a:t>
            </a:r>
            <a:r>
              <a:rPr lang="en-US" sz="2000" dirty="0">
                <a:latin typeface="Times New Roman" panose="02020603050405020304" pitchFamily="18" charset="0"/>
                <a:cs typeface="Times New Roman" panose="02020603050405020304" pitchFamily="18" charset="0"/>
              </a:rPr>
              <a:t> as their preferred setting for educational videos, followed by 2x and then the normal 1x speed. The preference for 1.5x reflects a balance between time efficiency and comprehension — students reported staying more focused and avoiding boredom at this speed.</a:t>
            </a:r>
          </a:p>
          <a:p>
            <a:r>
              <a:rPr lang="en-US" sz="2000" dirty="0">
                <a:latin typeface="Times New Roman" panose="02020603050405020304" pitchFamily="18" charset="0"/>
                <a:cs typeface="Times New Roman" panose="02020603050405020304" pitchFamily="18" charset="0"/>
              </a:rPr>
              <a:t>Students opted for 1x speed primarily when content was complex or unfamiliar, indicating that playback speed choice is closely tied to perceived content difficulty.</a:t>
            </a:r>
          </a:p>
          <a:p>
            <a:pPr>
              <a:lnSpc>
                <a:spcPts val="2858"/>
              </a:lnSpc>
              <a:defRPr/>
            </a:pPr>
            <a:endParaRPr lang="en-US" sz="1786" dirty="0"/>
          </a:p>
          <a:p>
            <a:pPr>
              <a:lnSpc>
                <a:spcPts val="2858"/>
              </a:lnSpc>
              <a:defRPr/>
            </a:pPr>
            <a:r>
              <a:rPr lang="en-US" sz="1600" dirty="0"/>
              <a:t>.</a:t>
            </a:r>
          </a:p>
          <a:p>
            <a:pPr>
              <a:lnSpc>
                <a:spcPts val="2858"/>
              </a:lnSpc>
              <a:defRPr/>
            </a:pPr>
            <a:endParaRPr lang="en-US" sz="1786" dirty="0"/>
          </a:p>
          <a:p>
            <a:pPr marL="0" marR="0" lvl="0" indent="0" algn="l" defTabSz="914400" rtl="0" eaLnBrk="1" fontAlgn="auto" latinLnBrk="0" hangingPunct="1">
              <a:lnSpc>
                <a:spcPts val="2858"/>
              </a:lnSpc>
              <a:spcBef>
                <a:spcPts val="0"/>
              </a:spcBef>
              <a:spcAft>
                <a:spcPts val="0"/>
              </a:spcAft>
              <a:buClrTx/>
              <a:buSzTx/>
              <a:buFontTx/>
              <a:buNone/>
              <a:tabLst/>
              <a:defRPr/>
            </a:pPr>
            <a:endParaRPr kumimoji="0" lang="en-US" sz="1786" b="0" i="0" u="none" strike="noStrike" kern="1200" cap="none" spc="0" normalizeH="0" baseline="0" noProof="0" dirty="0">
              <a:ln>
                <a:noFill/>
              </a:ln>
              <a:solidFill>
                <a:prstClr val="black"/>
              </a:solidFill>
              <a:effectLst/>
              <a:uLnTx/>
              <a:uFillTx/>
              <a:latin typeface="Calibri" panose="020F0502020204030204"/>
              <a:ea typeface="+mn-ea"/>
              <a:cs typeface="+mn-cs"/>
            </a:endParaRPr>
          </a:p>
          <a:p>
            <a:pPr algn="ctr">
              <a:lnSpc>
                <a:spcPts val="7702"/>
              </a:lnSpc>
            </a:pPr>
            <a:endParaRPr lang="en-US" sz="1600" dirty="0"/>
          </a:p>
          <a:p>
            <a:pPr marL="0" indent="0">
              <a:lnSpc>
                <a:spcPts val="7702"/>
              </a:lnSpc>
              <a:buNone/>
            </a:pPr>
            <a:endParaRPr lang="en-US" sz="2000" dirty="0"/>
          </a:p>
        </p:txBody>
      </p:sp>
      <p:pic>
        <p:nvPicPr>
          <p:cNvPr id="3" name="Picture 2" descr="Video Playback Speed Controller – Get this Extension for 🦊 Firefox (en-US)">
            <a:extLst>
              <a:ext uri="{FF2B5EF4-FFF2-40B4-BE49-F238E27FC236}">
                <a16:creationId xmlns:a16="http://schemas.microsoft.com/office/drawing/2014/main" id="{E59AFF21-3BC0-DF74-5FF2-EB846DF1E53E}"/>
              </a:ext>
            </a:extLst>
          </p:cNvPr>
          <p:cNvPicPr>
            <a:picLocks noChangeAspect="1"/>
          </p:cNvPicPr>
          <p:nvPr/>
        </p:nvPicPr>
        <p:blipFill>
          <a:blip r:embed="rId2"/>
          <a:stretch>
            <a:fillRect/>
          </a:stretch>
        </p:blipFill>
        <p:spPr>
          <a:xfrm>
            <a:off x="2877910" y="4267200"/>
            <a:ext cx="3105150" cy="2220686"/>
          </a:xfrm>
          <a:prstGeom prst="rect">
            <a:avLst/>
          </a:prstGeom>
        </p:spPr>
      </p:pic>
    </p:spTree>
    <p:extLst>
      <p:ext uri="{BB962C8B-B14F-4D97-AF65-F5344CB8AC3E}">
        <p14:creationId xmlns:p14="http://schemas.microsoft.com/office/powerpoint/2010/main" val="11760888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460CE4-6D7B-A0AE-A9C6-790D048ADE53}"/>
            </a:ext>
          </a:extLst>
        </p:cNvPr>
        <p:cNvGrpSpPr/>
        <p:nvPr/>
      </p:nvGrpSpPr>
      <p:grpSpPr>
        <a:xfrm>
          <a:off x="0" y="0"/>
          <a:ext cx="0" cy="0"/>
          <a:chOff x="0" y="0"/>
          <a:chExt cx="0" cy="0"/>
        </a:xfrm>
      </p:grpSpPr>
      <p:sp>
        <p:nvSpPr>
          <p:cNvPr id="110" name="TextShape 3">
            <a:extLst>
              <a:ext uri="{FF2B5EF4-FFF2-40B4-BE49-F238E27FC236}">
                <a16:creationId xmlns:a16="http://schemas.microsoft.com/office/drawing/2014/main" id="{5F1D43FC-DCC0-8B3E-7D5F-79EEB1F73743}"/>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7</a:t>
            </a:fld>
            <a:endParaRPr lang="en-GB" sz="1200" b="0" strike="noStrike" spc="-1">
              <a:latin typeface="Times New Roman"/>
            </a:endParaRPr>
          </a:p>
        </p:txBody>
      </p:sp>
      <p:sp>
        <p:nvSpPr>
          <p:cNvPr id="5" name="TextShape 2">
            <a:extLst>
              <a:ext uri="{FF2B5EF4-FFF2-40B4-BE49-F238E27FC236}">
                <a16:creationId xmlns:a16="http://schemas.microsoft.com/office/drawing/2014/main" id="{2081DC5D-00C7-74DC-D914-6FFD673CD8BE}"/>
              </a:ext>
            </a:extLst>
          </p:cNvPr>
          <p:cNvSpPr txBox="1"/>
          <p:nvPr/>
        </p:nvSpPr>
        <p:spPr>
          <a:xfrm>
            <a:off x="164008" y="-119743"/>
            <a:ext cx="8707849" cy="6840943"/>
          </a:xfrm>
          <a:prstGeom prst="rect">
            <a:avLst/>
          </a:prstGeom>
          <a:noFill/>
          <a:ln w="9360">
            <a:noFill/>
          </a:ln>
        </p:spPr>
        <p:txBody>
          <a:bodyPr>
            <a:noAutofit/>
          </a:bodyPr>
          <a:lstStyle/>
          <a:p>
            <a:pPr>
              <a:lnSpc>
                <a:spcPts val="7702"/>
              </a:lnSpc>
            </a:pPr>
            <a:r>
              <a:rPr lang="en-US" sz="3200" dirty="0">
                <a:latin typeface="Times New Roman" panose="02020603050405020304" pitchFamily="18" charset="0"/>
                <a:ea typeface="Roboto Slab" pitchFamily="34" charset="-122"/>
                <a:cs typeface="Times New Roman" panose="02020603050405020304" pitchFamily="18" charset="0"/>
              </a:rPr>
              <a:t>Results</a:t>
            </a:r>
          </a:p>
          <a:p>
            <a:pPr>
              <a:lnSpc>
                <a:spcPts val="2858"/>
              </a:lnSpc>
              <a:defRPr/>
            </a:pPr>
            <a:r>
              <a:rPr lang="en-US" sz="2400" b="1" dirty="0">
                <a:latin typeface="Times New Roman" panose="02020603050405020304" pitchFamily="18" charset="0"/>
                <a:cs typeface="Times New Roman" panose="02020603050405020304" pitchFamily="18" charset="0"/>
              </a:rPr>
              <a:t>Perceived Productivity vs. Actual Learning</a:t>
            </a:r>
            <a:endParaRPr lang="en-IN" sz="2400" b="1" dirty="0">
              <a:solidFill>
                <a:schemeClr val="tx2"/>
              </a:solidFill>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A majority of participants </a:t>
            </a:r>
            <a:r>
              <a:rPr lang="en-US" sz="2000" b="1" dirty="0">
                <a:latin typeface="Times New Roman" panose="02020603050405020304" pitchFamily="18" charset="0"/>
                <a:cs typeface="Times New Roman" panose="02020603050405020304" pitchFamily="18" charset="0"/>
              </a:rPr>
              <a:t>felt more productive</a:t>
            </a:r>
            <a:r>
              <a:rPr lang="en-US" sz="2000" dirty="0">
                <a:latin typeface="Times New Roman" panose="02020603050405020304" pitchFamily="18" charset="0"/>
                <a:cs typeface="Times New Roman" panose="02020603050405020304" pitchFamily="18" charset="0"/>
              </a:rPr>
              <a:t> when watching at higher speeds, attributing this to covering more content in less time. However, deeper analysis revealed a critical disconnect:</a:t>
            </a:r>
          </a:p>
          <a:p>
            <a:r>
              <a:rPr lang="en-US" sz="2000" dirty="0">
                <a:latin typeface="Times New Roman" panose="02020603050405020304" pitchFamily="18" charset="0"/>
                <a:cs typeface="Times New Roman" panose="02020603050405020304" pitchFamily="18" charset="0"/>
              </a:rPr>
              <a:t>Most participants retained only </a:t>
            </a:r>
            <a:r>
              <a:rPr lang="en-US" sz="2000" b="1" dirty="0">
                <a:latin typeface="Times New Roman" panose="02020603050405020304" pitchFamily="18" charset="0"/>
                <a:cs typeface="Times New Roman" panose="02020603050405020304" pitchFamily="18" charset="0"/>
              </a:rPr>
              <a:t>moderate levels</a:t>
            </a:r>
            <a:r>
              <a:rPr lang="en-US" sz="2000" dirty="0">
                <a:latin typeface="Times New Roman" panose="02020603050405020304" pitchFamily="18" charset="0"/>
                <a:cs typeface="Times New Roman" panose="02020603050405020304" pitchFamily="18" charset="0"/>
              </a:rPr>
              <a:t> of information</a:t>
            </a:r>
          </a:p>
          <a:p>
            <a:r>
              <a:rPr lang="en-US" sz="2000" dirty="0">
                <a:latin typeface="Times New Roman" panose="02020603050405020304" pitchFamily="18" charset="0"/>
                <a:cs typeface="Times New Roman" panose="02020603050405020304" pitchFamily="18" charset="0"/>
              </a:rPr>
              <a:t>Participants were unable to retain detailed information after speed-watching</a:t>
            </a:r>
          </a:p>
          <a:p>
            <a:r>
              <a:rPr lang="en-US" sz="2000" dirty="0">
                <a:latin typeface="Times New Roman" panose="02020603050405020304" pitchFamily="18" charset="0"/>
                <a:cs typeface="Times New Roman" panose="02020603050405020304" pitchFamily="18" charset="0"/>
              </a:rPr>
              <a:t>Many were forced to re-study content repeatedly</a:t>
            </a:r>
          </a:p>
          <a:p>
            <a:pPr>
              <a:lnSpc>
                <a:spcPts val="2858"/>
              </a:lnSpc>
              <a:defRPr/>
            </a:pPr>
            <a:endParaRPr lang="en-US" sz="1786" dirty="0"/>
          </a:p>
          <a:p>
            <a:pPr>
              <a:lnSpc>
                <a:spcPts val="2858"/>
              </a:lnSpc>
              <a:defRPr/>
            </a:pPr>
            <a:r>
              <a:rPr lang="en-US" sz="1600" dirty="0"/>
              <a:t>.</a:t>
            </a:r>
          </a:p>
          <a:p>
            <a:pPr>
              <a:lnSpc>
                <a:spcPts val="2858"/>
              </a:lnSpc>
              <a:defRPr/>
            </a:pPr>
            <a:endParaRPr lang="en-US" sz="1786" dirty="0"/>
          </a:p>
          <a:p>
            <a:pPr marL="0" marR="0" lvl="0" indent="0" algn="l" defTabSz="914400" rtl="0" eaLnBrk="1" fontAlgn="auto" latinLnBrk="0" hangingPunct="1">
              <a:lnSpc>
                <a:spcPts val="2858"/>
              </a:lnSpc>
              <a:spcBef>
                <a:spcPts val="0"/>
              </a:spcBef>
              <a:spcAft>
                <a:spcPts val="0"/>
              </a:spcAft>
              <a:buClrTx/>
              <a:buSzTx/>
              <a:buFontTx/>
              <a:buNone/>
              <a:tabLst/>
              <a:defRPr/>
            </a:pPr>
            <a:endParaRPr kumimoji="0" lang="en-US" sz="1786" b="0" i="0" u="none" strike="noStrike" kern="1200" cap="none" spc="0" normalizeH="0" baseline="0" noProof="0" dirty="0">
              <a:ln>
                <a:noFill/>
              </a:ln>
              <a:solidFill>
                <a:prstClr val="black"/>
              </a:solidFill>
              <a:effectLst/>
              <a:uLnTx/>
              <a:uFillTx/>
              <a:latin typeface="Calibri" panose="020F0502020204030204"/>
              <a:ea typeface="+mn-ea"/>
              <a:cs typeface="+mn-cs"/>
            </a:endParaRPr>
          </a:p>
          <a:p>
            <a:pPr algn="ctr">
              <a:lnSpc>
                <a:spcPts val="7702"/>
              </a:lnSpc>
            </a:pPr>
            <a:endParaRPr lang="en-US" sz="1600" dirty="0"/>
          </a:p>
          <a:p>
            <a:pPr marL="0" indent="0">
              <a:lnSpc>
                <a:spcPts val="7702"/>
              </a:lnSpc>
              <a:buNone/>
            </a:pPr>
            <a:endParaRPr lang="en-US" sz="2000" dirty="0"/>
          </a:p>
        </p:txBody>
      </p:sp>
      <p:pic>
        <p:nvPicPr>
          <p:cNvPr id="2" name="Picture 1" descr="Different Learning Speed stock illustration. Illustration of special -  87732352">
            <a:extLst>
              <a:ext uri="{FF2B5EF4-FFF2-40B4-BE49-F238E27FC236}">
                <a16:creationId xmlns:a16="http://schemas.microsoft.com/office/drawing/2014/main" id="{FCF7B6AC-F71F-31B0-8D76-849EBFE4F881}"/>
              </a:ext>
            </a:extLst>
          </p:cNvPr>
          <p:cNvPicPr>
            <a:picLocks noChangeAspect="1"/>
          </p:cNvPicPr>
          <p:nvPr/>
        </p:nvPicPr>
        <p:blipFill>
          <a:blip r:embed="rId2"/>
          <a:stretch>
            <a:fillRect/>
          </a:stretch>
        </p:blipFill>
        <p:spPr>
          <a:xfrm>
            <a:off x="1807028" y="4354286"/>
            <a:ext cx="5029201" cy="2198914"/>
          </a:xfrm>
          <a:prstGeom prst="rect">
            <a:avLst/>
          </a:prstGeom>
        </p:spPr>
      </p:pic>
    </p:spTree>
    <p:extLst>
      <p:ext uri="{BB962C8B-B14F-4D97-AF65-F5344CB8AC3E}">
        <p14:creationId xmlns:p14="http://schemas.microsoft.com/office/powerpoint/2010/main" val="1158567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3D340C-9674-1371-025C-D0A6E442C728}"/>
            </a:ext>
          </a:extLst>
        </p:cNvPr>
        <p:cNvGrpSpPr/>
        <p:nvPr/>
      </p:nvGrpSpPr>
      <p:grpSpPr>
        <a:xfrm>
          <a:off x="0" y="0"/>
          <a:ext cx="0" cy="0"/>
          <a:chOff x="0" y="0"/>
          <a:chExt cx="0" cy="0"/>
        </a:xfrm>
      </p:grpSpPr>
      <p:sp>
        <p:nvSpPr>
          <p:cNvPr id="110" name="TextShape 3">
            <a:extLst>
              <a:ext uri="{FF2B5EF4-FFF2-40B4-BE49-F238E27FC236}">
                <a16:creationId xmlns:a16="http://schemas.microsoft.com/office/drawing/2014/main" id="{13223BD0-B593-5B45-B9DB-35F031D5FB5C}"/>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8</a:t>
            </a:fld>
            <a:endParaRPr lang="en-GB" sz="1200" b="0" strike="noStrike" spc="-1">
              <a:latin typeface="Times New Roman"/>
            </a:endParaRPr>
          </a:p>
        </p:txBody>
      </p:sp>
      <p:sp>
        <p:nvSpPr>
          <p:cNvPr id="5" name="TextShape 2">
            <a:extLst>
              <a:ext uri="{FF2B5EF4-FFF2-40B4-BE49-F238E27FC236}">
                <a16:creationId xmlns:a16="http://schemas.microsoft.com/office/drawing/2014/main" id="{97BA128F-AA8D-18EC-35BC-EBDC501EE1A1}"/>
              </a:ext>
            </a:extLst>
          </p:cNvPr>
          <p:cNvSpPr txBox="1"/>
          <p:nvPr/>
        </p:nvSpPr>
        <p:spPr>
          <a:xfrm>
            <a:off x="164008" y="-97971"/>
            <a:ext cx="8707849" cy="6819171"/>
          </a:xfrm>
          <a:prstGeom prst="rect">
            <a:avLst/>
          </a:prstGeom>
          <a:noFill/>
          <a:ln w="9360">
            <a:noFill/>
          </a:ln>
        </p:spPr>
        <p:txBody>
          <a:bodyPr>
            <a:noAutofit/>
          </a:bodyPr>
          <a:lstStyle/>
          <a:p>
            <a:pPr>
              <a:lnSpc>
                <a:spcPts val="7702"/>
              </a:lnSpc>
            </a:pPr>
            <a:r>
              <a:rPr lang="en-IN" sz="3200" b="1" dirty="0">
                <a:latin typeface="Times New Roman" panose="02020603050405020304" pitchFamily="18" charset="0"/>
                <a:cs typeface="Times New Roman" panose="02020603050405020304" pitchFamily="18" charset="0"/>
              </a:rPr>
              <a:t>Conclusion &amp; Key Insights</a:t>
            </a:r>
          </a:p>
          <a:p>
            <a:pPr>
              <a:lnSpc>
                <a:spcPts val="2858"/>
              </a:lnSpc>
              <a:defRPr/>
            </a:pPr>
            <a:endParaRPr lang="en-US" sz="3200" dirty="0">
              <a:solidFill>
                <a:srgbClr val="3257B8"/>
              </a:solidFill>
              <a:latin typeface="Roboto Slab" pitchFamily="34" charset="0"/>
              <a:ea typeface="Roboto Slab" pitchFamily="34" charset="-122"/>
              <a:cs typeface="Roboto Slab" pitchFamily="34" charset="-120"/>
            </a:endParaRPr>
          </a:p>
          <a:p>
            <a:pPr>
              <a:lnSpc>
                <a:spcPts val="2858"/>
              </a:lnSpc>
              <a:defRPr/>
            </a:pPr>
            <a:r>
              <a:rPr lang="en-IN" sz="2400" b="1" dirty="0">
                <a:latin typeface="Times New Roman" panose="02020603050405020304" pitchFamily="18" charset="0"/>
                <a:cs typeface="Times New Roman" panose="02020603050405020304" pitchFamily="18" charset="0"/>
              </a:rPr>
              <a:t>Moderate Speed is Optimal</a:t>
            </a:r>
          </a:p>
          <a:p>
            <a:pPr>
              <a:lnSpc>
                <a:spcPts val="2858"/>
              </a:lnSpc>
              <a:defRPr/>
            </a:pPr>
            <a:r>
              <a:rPr lang="en-US" sz="2000" dirty="0">
                <a:latin typeface="Times New Roman" panose="02020603050405020304" pitchFamily="18" charset="0"/>
                <a:cs typeface="Times New Roman" panose="02020603050405020304" pitchFamily="18" charset="0"/>
              </a:rPr>
              <a:t>Playback speeds of </a:t>
            </a:r>
            <a:r>
              <a:rPr lang="en-US" sz="2000" b="1" dirty="0">
                <a:latin typeface="Times New Roman" panose="02020603050405020304" pitchFamily="18" charset="0"/>
                <a:cs typeface="Times New Roman" panose="02020603050405020304" pitchFamily="18" charset="0"/>
              </a:rPr>
              <a:t>1.25x to 1.5x</a:t>
            </a:r>
            <a:r>
              <a:rPr lang="en-US" sz="2000" dirty="0">
                <a:latin typeface="Times New Roman" panose="02020603050405020304" pitchFamily="18" charset="0"/>
                <a:cs typeface="Times New Roman" panose="02020603050405020304" pitchFamily="18" charset="0"/>
              </a:rPr>
              <a:t> provide the most effective balance between efficiency and comprehension. Learners process information adequately while reducing overall time required to complete educational content.</a:t>
            </a:r>
          </a:p>
          <a:p>
            <a:pPr>
              <a:lnSpc>
                <a:spcPts val="2858"/>
              </a:lnSpc>
              <a:defRPr/>
            </a:pPr>
            <a:endParaRPr lang="en-US" sz="2000" dirty="0"/>
          </a:p>
          <a:p>
            <a:pPr>
              <a:lnSpc>
                <a:spcPts val="2858"/>
              </a:lnSpc>
              <a:defRPr/>
            </a:pPr>
            <a:r>
              <a:rPr lang="en-US" sz="2400" b="1" dirty="0">
                <a:latin typeface="Times New Roman" panose="02020603050405020304" pitchFamily="18" charset="0"/>
                <a:cs typeface="Times New Roman" panose="02020603050405020304" pitchFamily="18" charset="0"/>
              </a:rPr>
              <a:t>The Productivity Illusion is Real</a:t>
            </a:r>
            <a:endParaRPr lang="en-IN" sz="2400" b="1" dirty="0">
              <a:latin typeface="Times New Roman" panose="02020603050405020304" pitchFamily="18" charset="0"/>
              <a:cs typeface="Times New Roman" panose="02020603050405020304" pitchFamily="18" charset="0"/>
            </a:endParaRPr>
          </a:p>
          <a:p>
            <a:pPr>
              <a:lnSpc>
                <a:spcPts val="2858"/>
              </a:lnSpc>
              <a:defRPr/>
            </a:pPr>
            <a:r>
              <a:rPr lang="en-US" sz="2000" dirty="0">
                <a:latin typeface="Times New Roman" panose="02020603050405020304" pitchFamily="18" charset="0"/>
                <a:cs typeface="Times New Roman" panose="02020603050405020304" pitchFamily="18" charset="0"/>
              </a:rPr>
              <a:t>Learners perceive themselves to be more efficient at higher speeds despite experiencing </a:t>
            </a:r>
            <a:r>
              <a:rPr lang="en-US" sz="2000" b="1" dirty="0">
                <a:latin typeface="Times New Roman" panose="02020603050405020304" pitchFamily="18" charset="0"/>
                <a:cs typeface="Times New Roman" panose="02020603050405020304" pitchFamily="18" charset="0"/>
              </a:rPr>
              <a:t>lower levels of actual understanding</a:t>
            </a:r>
            <a:r>
              <a:rPr lang="en-US" sz="2000" dirty="0">
                <a:latin typeface="Times New Roman" panose="02020603050405020304" pitchFamily="18" charset="0"/>
                <a:cs typeface="Times New Roman" panose="02020603050405020304" pitchFamily="18" charset="0"/>
              </a:rPr>
              <a:t>. Speed alone should not be considered a reliable indicator of effective learning.</a:t>
            </a:r>
          </a:p>
          <a:p>
            <a:pPr>
              <a:lnSpc>
                <a:spcPts val="2858"/>
              </a:lnSpc>
              <a:defRPr/>
            </a:pPr>
            <a:r>
              <a:rPr lang="en-US" sz="1600" dirty="0"/>
              <a:t>.</a:t>
            </a:r>
            <a:endParaRPr lang="en-US" sz="1786" dirty="0"/>
          </a:p>
          <a:p>
            <a:pPr>
              <a:lnSpc>
                <a:spcPts val="2858"/>
              </a:lnSpc>
              <a:defRPr/>
            </a:pPr>
            <a:endParaRPr lang="en-US" sz="1786" dirty="0"/>
          </a:p>
          <a:p>
            <a:pPr>
              <a:lnSpc>
                <a:spcPts val="2858"/>
              </a:lnSpc>
              <a:defRPr/>
            </a:pPr>
            <a:r>
              <a:rPr lang="en-US" sz="1600" dirty="0"/>
              <a:t>.</a:t>
            </a:r>
          </a:p>
          <a:p>
            <a:pPr>
              <a:lnSpc>
                <a:spcPts val="2858"/>
              </a:lnSpc>
              <a:defRPr/>
            </a:pPr>
            <a:endParaRPr lang="en-US" sz="1786" dirty="0"/>
          </a:p>
          <a:p>
            <a:pPr marL="0" marR="0" lvl="0" indent="0" algn="l" defTabSz="914400" rtl="0" eaLnBrk="1" fontAlgn="auto" latinLnBrk="0" hangingPunct="1">
              <a:lnSpc>
                <a:spcPts val="2858"/>
              </a:lnSpc>
              <a:spcBef>
                <a:spcPts val="0"/>
              </a:spcBef>
              <a:spcAft>
                <a:spcPts val="0"/>
              </a:spcAft>
              <a:buClrTx/>
              <a:buSzTx/>
              <a:buFontTx/>
              <a:buNone/>
              <a:tabLst/>
              <a:defRPr/>
            </a:pPr>
            <a:endParaRPr kumimoji="0" lang="en-US" sz="1786" b="0" i="0" u="none" strike="noStrike" kern="1200" cap="none" spc="0" normalizeH="0" baseline="0" noProof="0" dirty="0">
              <a:ln>
                <a:noFill/>
              </a:ln>
              <a:solidFill>
                <a:prstClr val="black"/>
              </a:solidFill>
              <a:effectLst/>
              <a:uLnTx/>
              <a:uFillTx/>
              <a:latin typeface="Calibri" panose="020F0502020204030204"/>
              <a:ea typeface="+mn-ea"/>
              <a:cs typeface="+mn-cs"/>
            </a:endParaRPr>
          </a:p>
          <a:p>
            <a:pPr algn="ctr">
              <a:lnSpc>
                <a:spcPts val="7702"/>
              </a:lnSpc>
            </a:pPr>
            <a:endParaRPr lang="en-US" sz="1600" dirty="0"/>
          </a:p>
          <a:p>
            <a:pPr marL="0" indent="0">
              <a:lnSpc>
                <a:spcPts val="7702"/>
              </a:lnSpc>
              <a:buNone/>
            </a:pPr>
            <a:endParaRPr lang="en-US" sz="2000" dirty="0"/>
          </a:p>
        </p:txBody>
      </p:sp>
    </p:spTree>
    <p:extLst>
      <p:ext uri="{BB962C8B-B14F-4D97-AF65-F5344CB8AC3E}">
        <p14:creationId xmlns:p14="http://schemas.microsoft.com/office/powerpoint/2010/main" val="24932984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BCC5C-9C35-9601-51B0-3B5DDBC51DF3}"/>
            </a:ext>
          </a:extLst>
        </p:cNvPr>
        <p:cNvGrpSpPr/>
        <p:nvPr/>
      </p:nvGrpSpPr>
      <p:grpSpPr>
        <a:xfrm>
          <a:off x="0" y="0"/>
          <a:ext cx="0" cy="0"/>
          <a:chOff x="0" y="0"/>
          <a:chExt cx="0" cy="0"/>
        </a:xfrm>
      </p:grpSpPr>
      <p:sp>
        <p:nvSpPr>
          <p:cNvPr id="110" name="TextShape 3">
            <a:extLst>
              <a:ext uri="{FF2B5EF4-FFF2-40B4-BE49-F238E27FC236}">
                <a16:creationId xmlns:a16="http://schemas.microsoft.com/office/drawing/2014/main" id="{1848D078-8EFF-9A90-79FC-F6CC24E9B5BE}"/>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9</a:t>
            </a:fld>
            <a:endParaRPr lang="en-GB" sz="1200" b="0" strike="noStrike" spc="-1">
              <a:latin typeface="Times New Roman"/>
            </a:endParaRPr>
          </a:p>
        </p:txBody>
      </p:sp>
      <p:sp>
        <p:nvSpPr>
          <p:cNvPr id="5" name="TextShape 2">
            <a:extLst>
              <a:ext uri="{FF2B5EF4-FFF2-40B4-BE49-F238E27FC236}">
                <a16:creationId xmlns:a16="http://schemas.microsoft.com/office/drawing/2014/main" id="{58F8D587-DEB7-08E9-E069-5DE3B6BCE06C}"/>
              </a:ext>
            </a:extLst>
          </p:cNvPr>
          <p:cNvSpPr txBox="1"/>
          <p:nvPr/>
        </p:nvSpPr>
        <p:spPr>
          <a:xfrm>
            <a:off x="164008" y="-130629"/>
            <a:ext cx="8707849" cy="6851829"/>
          </a:xfrm>
          <a:prstGeom prst="rect">
            <a:avLst/>
          </a:prstGeom>
          <a:noFill/>
          <a:ln w="9360">
            <a:noFill/>
          </a:ln>
        </p:spPr>
        <p:txBody>
          <a:bodyPr>
            <a:noAutofit/>
          </a:bodyPr>
          <a:lstStyle/>
          <a:p>
            <a:pPr>
              <a:lnSpc>
                <a:spcPts val="7702"/>
              </a:lnSpc>
            </a:pPr>
            <a:r>
              <a:rPr lang="en-IN" sz="3200" b="1" dirty="0">
                <a:latin typeface="Times New Roman" panose="02020603050405020304" pitchFamily="18" charset="0"/>
                <a:cs typeface="Times New Roman" panose="02020603050405020304" pitchFamily="18" charset="0"/>
              </a:rPr>
              <a:t>Conclusion &amp; Key Insights</a:t>
            </a:r>
          </a:p>
          <a:p>
            <a:pPr>
              <a:lnSpc>
                <a:spcPts val="2858"/>
              </a:lnSpc>
              <a:defRPr/>
            </a:pPr>
            <a:endParaRPr lang="en-US" dirty="0">
              <a:solidFill>
                <a:srgbClr val="3257B8"/>
              </a:solidFill>
              <a:latin typeface="Roboto Slab" pitchFamily="34" charset="0"/>
              <a:ea typeface="Roboto Slab" pitchFamily="34" charset="-122"/>
              <a:cs typeface="Roboto Slab" pitchFamily="34" charset="-120"/>
            </a:endParaRPr>
          </a:p>
          <a:p>
            <a:pPr>
              <a:lnSpc>
                <a:spcPts val="2858"/>
              </a:lnSpc>
              <a:defRPr/>
            </a:pPr>
            <a:r>
              <a:rPr lang="en-IN" sz="2400" b="1" dirty="0">
                <a:latin typeface="Times New Roman" panose="02020603050405020304" pitchFamily="18" charset="0"/>
                <a:cs typeface="Times New Roman" panose="02020603050405020304" pitchFamily="18" charset="0"/>
              </a:rPr>
              <a:t>High Speed Harms Retention</a:t>
            </a:r>
          </a:p>
          <a:p>
            <a:pPr>
              <a:lnSpc>
                <a:spcPts val="2858"/>
              </a:lnSpc>
              <a:defRPr/>
            </a:pPr>
            <a:r>
              <a:rPr lang="en-US" sz="2000" dirty="0">
                <a:latin typeface="Times New Roman" panose="02020603050405020304" pitchFamily="18" charset="0"/>
                <a:cs typeface="Times New Roman" panose="02020603050405020304" pitchFamily="18" charset="0"/>
              </a:rPr>
              <a:t>Speeds of </a:t>
            </a:r>
            <a:r>
              <a:rPr lang="en-US" sz="2000" b="1" dirty="0">
                <a:latin typeface="Times New Roman" panose="02020603050405020304" pitchFamily="18" charset="0"/>
                <a:cs typeface="Times New Roman" panose="02020603050405020304" pitchFamily="18" charset="0"/>
              </a:rPr>
              <a:t>2x</a:t>
            </a:r>
            <a:r>
              <a:rPr lang="en-US" sz="2000" dirty="0">
                <a:latin typeface="Times New Roman" panose="02020603050405020304" pitchFamily="18" charset="0"/>
                <a:cs typeface="Times New Roman" panose="02020603050405020304" pitchFamily="18" charset="0"/>
              </a:rPr>
              <a:t> consistently led to increased cognitive load, mental fatigue, and reduced retention. Learners reported difficulty understanding complex concepts, recalling detailed information, and interpreting visual elements.</a:t>
            </a:r>
          </a:p>
          <a:p>
            <a:pPr>
              <a:lnSpc>
                <a:spcPts val="2858"/>
              </a:lnSpc>
              <a:defRPr/>
            </a:pPr>
            <a:endParaRPr lang="en-US" sz="2000" dirty="0"/>
          </a:p>
          <a:p>
            <a:pPr>
              <a:lnSpc>
                <a:spcPts val="2858"/>
              </a:lnSpc>
              <a:defRPr/>
            </a:pPr>
            <a:r>
              <a:rPr lang="en-IN" sz="2400" b="1" dirty="0">
                <a:latin typeface="Times New Roman" panose="02020603050405020304" pitchFamily="18" charset="0"/>
                <a:cs typeface="Times New Roman" panose="02020603050405020304" pitchFamily="18" charset="0"/>
              </a:rPr>
              <a:t>Individual Differences Matter</a:t>
            </a:r>
          </a:p>
          <a:p>
            <a:pPr>
              <a:lnSpc>
                <a:spcPts val="2858"/>
              </a:lnSpc>
              <a:defRPr/>
            </a:pPr>
            <a:r>
              <a:rPr lang="en-US" sz="2000" dirty="0">
                <a:latin typeface="Times New Roman" panose="02020603050405020304" pitchFamily="18" charset="0"/>
                <a:cs typeface="Times New Roman" panose="02020603050405020304" pitchFamily="18" charset="0"/>
              </a:rPr>
              <a:t>Content complexity, prior knowledge, attention span, and learning style all influence the optimal playback speed for each learner. A </a:t>
            </a:r>
            <a:r>
              <a:rPr lang="en-US" sz="2000" b="1" dirty="0">
                <a:latin typeface="Times New Roman" panose="02020603050405020304" pitchFamily="18" charset="0"/>
                <a:cs typeface="Times New Roman" panose="02020603050405020304" pitchFamily="18" charset="0"/>
              </a:rPr>
              <a:t>flexible, </a:t>
            </a:r>
            <a:r>
              <a:rPr lang="en-US" sz="2000" b="1" dirty="0" err="1">
                <a:latin typeface="Times New Roman" panose="02020603050405020304" pitchFamily="18" charset="0"/>
                <a:cs typeface="Times New Roman" panose="02020603050405020304" pitchFamily="18" charset="0"/>
              </a:rPr>
              <a:t>personalised</a:t>
            </a:r>
            <a:r>
              <a:rPr lang="en-US" sz="2000" b="1" dirty="0">
                <a:latin typeface="Times New Roman" panose="02020603050405020304" pitchFamily="18" charset="0"/>
                <a:cs typeface="Times New Roman" panose="02020603050405020304" pitchFamily="18" charset="0"/>
              </a:rPr>
              <a:t> approach</a:t>
            </a:r>
            <a:r>
              <a:rPr lang="en-US" sz="2000" dirty="0">
                <a:latin typeface="Times New Roman" panose="02020603050405020304" pitchFamily="18" charset="0"/>
                <a:cs typeface="Times New Roman" panose="02020603050405020304" pitchFamily="18" charset="0"/>
              </a:rPr>
              <a:t> is essential for meaningful digital learning outcomes.</a:t>
            </a:r>
          </a:p>
          <a:p>
            <a:pPr>
              <a:lnSpc>
                <a:spcPts val="2858"/>
              </a:lnSpc>
              <a:defRPr/>
            </a:pPr>
            <a:endParaRPr lang="en-US" sz="2000" dirty="0"/>
          </a:p>
          <a:p>
            <a:pPr>
              <a:lnSpc>
                <a:spcPts val="2858"/>
              </a:lnSpc>
              <a:defRPr/>
            </a:pPr>
            <a:r>
              <a:rPr lang="en-US" sz="1600" dirty="0"/>
              <a:t>.</a:t>
            </a:r>
            <a:endParaRPr lang="en-US" sz="1786" dirty="0"/>
          </a:p>
          <a:p>
            <a:pPr>
              <a:lnSpc>
                <a:spcPts val="2858"/>
              </a:lnSpc>
              <a:defRPr/>
            </a:pPr>
            <a:endParaRPr lang="en-US" sz="1786" dirty="0"/>
          </a:p>
          <a:p>
            <a:pPr>
              <a:lnSpc>
                <a:spcPts val="2858"/>
              </a:lnSpc>
              <a:defRPr/>
            </a:pPr>
            <a:r>
              <a:rPr lang="en-US" sz="1600" dirty="0"/>
              <a:t>.</a:t>
            </a:r>
          </a:p>
          <a:p>
            <a:pPr>
              <a:lnSpc>
                <a:spcPts val="2858"/>
              </a:lnSpc>
              <a:defRPr/>
            </a:pPr>
            <a:endParaRPr lang="en-US" sz="1786" dirty="0"/>
          </a:p>
          <a:p>
            <a:pPr marL="0" marR="0" lvl="0" indent="0" algn="l" defTabSz="914400" rtl="0" eaLnBrk="1" fontAlgn="auto" latinLnBrk="0" hangingPunct="1">
              <a:lnSpc>
                <a:spcPts val="2858"/>
              </a:lnSpc>
              <a:spcBef>
                <a:spcPts val="0"/>
              </a:spcBef>
              <a:spcAft>
                <a:spcPts val="0"/>
              </a:spcAft>
              <a:buClrTx/>
              <a:buSzTx/>
              <a:buFontTx/>
              <a:buNone/>
              <a:tabLst/>
              <a:defRPr/>
            </a:pPr>
            <a:endParaRPr kumimoji="0" lang="en-US" sz="1786" b="0" i="0" u="none" strike="noStrike" kern="1200" cap="none" spc="0" normalizeH="0" baseline="0" noProof="0" dirty="0">
              <a:ln>
                <a:noFill/>
              </a:ln>
              <a:solidFill>
                <a:prstClr val="black"/>
              </a:solidFill>
              <a:effectLst/>
              <a:uLnTx/>
              <a:uFillTx/>
              <a:latin typeface="Calibri" panose="020F0502020204030204"/>
              <a:ea typeface="+mn-ea"/>
              <a:cs typeface="+mn-cs"/>
            </a:endParaRPr>
          </a:p>
          <a:p>
            <a:pPr algn="ctr">
              <a:lnSpc>
                <a:spcPts val="7702"/>
              </a:lnSpc>
            </a:pPr>
            <a:endParaRPr lang="en-US" sz="1600" dirty="0"/>
          </a:p>
          <a:p>
            <a:pPr marL="0" indent="0">
              <a:lnSpc>
                <a:spcPts val="7702"/>
              </a:lnSpc>
              <a:buNone/>
            </a:pPr>
            <a:endParaRPr lang="en-US" sz="2000" dirty="0"/>
          </a:p>
        </p:txBody>
      </p:sp>
    </p:spTree>
    <p:extLst>
      <p:ext uri="{BB962C8B-B14F-4D97-AF65-F5344CB8AC3E}">
        <p14:creationId xmlns:p14="http://schemas.microsoft.com/office/powerpoint/2010/main" val="1945400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10</a:t>
            </a:fld>
            <a:endParaRPr lang="en-GB" sz="1200" b="0" strike="noStrike" spc="-1">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37ED6F0-5E4C-4CD0-9B68-9C53F925A6F7}">
  <ds:schemaRefs>
    <ds:schemaRef ds:uri="http://schemas.microsoft.com/sharepoint/v3/contenttype/forms"/>
  </ds:schemaRefs>
</ds:datastoreItem>
</file>

<file path=customXml/itemProps2.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4A62A602-78C1-468C-BB25-57CD481DB741}">
  <ds:schemaRefs>
    <ds:schemaRef ds:uri="http://www.w3.org/XML/1998/namespace"/>
    <ds:schemaRef ds:uri="http://schemas.openxmlformats.org/package/2006/metadata/core-properties"/>
    <ds:schemaRef ds:uri="http://schemas.microsoft.com/office/2006/metadata/properties"/>
    <ds:schemaRef ds:uri="http://purl.org/dc/elements/1.1/"/>
    <ds:schemaRef ds:uri="http://purl.org/dc/terms/"/>
    <ds:schemaRef ds:uri="http://schemas.microsoft.com/office/2006/documentManagement/types"/>
    <ds:schemaRef ds:uri="http://schemas.microsoft.com/office/infopath/2007/PartnerControl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34973</TotalTime>
  <Words>775</Words>
  <Application>Microsoft Office PowerPoint</Application>
  <PresentationFormat>On-screen Show (4:3)</PresentationFormat>
  <Paragraphs>114</Paragraphs>
  <Slides>10</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Roboto Slab</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Harshita Lakhanpal</cp:lastModifiedBy>
  <cp:revision>2346</cp:revision>
  <dcterms:created xsi:type="dcterms:W3CDTF">2010-04-09T07:36:15Z</dcterms:created>
  <dcterms:modified xsi:type="dcterms:W3CDTF">2026-05-19T05:50:23Z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